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2A828A-EADA-F17D-9EF8-EDEB7AE30384}" v="38" dt="2026-03-24T19:54:10.226"/>
    <p1510:client id="{CCE14515-3107-BBAA-351E-EFFC8FEDA26B}" v="18" dt="2026-03-24T19:38:58.6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горния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Контейнер за 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FF1103-E7AA-4EFD-9207-0B4DB64C37DC}" type="datetimeFigureOut">
              <a:t>24.3.2026 г.</a:t>
            </a:fld>
            <a:endParaRPr lang="bg-BG"/>
          </a:p>
        </p:txBody>
      </p:sp>
      <p:sp>
        <p:nvSpPr>
          <p:cNvPr id="4" name="Контейнер за изображение на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Контейнер за бележки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A8BA8A-C6A8-439B-8D15-1998D090B1E3}" type="slidenum"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8312366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0"/>
            <a:ext cx="1371600" cy="164592"/>
          </a:xfrm>
          <a:prstGeom prst="rect">
            <a:avLst/>
          </a:prstGeom>
          <a:solidFill>
            <a:srgbClr val="56D364"/>
          </a:solidFill>
          <a:ln w="12700">
            <a:solidFill>
              <a:srgbClr val="56D3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79408" y="0"/>
            <a:ext cx="164592" cy="2286000"/>
          </a:xfrm>
          <a:prstGeom prst="rect">
            <a:avLst/>
          </a:prstGeom>
          <a:solidFill>
            <a:srgbClr val="56D364"/>
          </a:solidFill>
          <a:ln w="12700">
            <a:solidFill>
              <a:srgbClr val="56D36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4592" y="4974336"/>
            <a:ext cx="8979408" cy="164592"/>
          </a:xfrm>
          <a:prstGeom prst="rect">
            <a:avLst/>
          </a:prstGeom>
          <a:solidFill>
            <a:srgbClr val="E53E6D"/>
          </a:solidFill>
          <a:ln w="12700">
            <a:solidFill>
              <a:srgbClr val="E53E6D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60120"/>
            <a:ext cx="1371600" cy="11247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11680" y="82296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NEXUS SCHOOL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2011680" y="155448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2EA0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SOFTWARE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2011680" y="2377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 School  ·  Web Technologies  ·  C++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011680" y="2880360"/>
            <a:ext cx="4114800" cy="45720"/>
          </a:xfrm>
          <a:prstGeom prst="rect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011680" y="3017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 High School of Computer Programming and Innovations – Burgas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011680" y="3429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Year 2025 / 2026  |  Grade 9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64592" y="4480560"/>
            <a:ext cx="8979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1300" i="1" dirty="0">
              <a:solidFill>
                <a:srgbClr val="E53E6D"/>
              </a:solidFill>
              <a:latin typeface="Arial"/>
              <a:ea typeface="Calibri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F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1440"/>
            <a:ext cx="667512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09728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Team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20040" y="1280160"/>
            <a:ext cx="19659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320040" y="1280160"/>
            <a:ext cx="1965960" cy="164592"/>
          </a:xfrm>
          <a:prstGeom prst="rect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5820" y="1600200"/>
            <a:ext cx="914400" cy="914400"/>
          </a:xfrm>
          <a:prstGeom prst="ellipse">
            <a:avLst/>
          </a:prstGeom>
          <a:solidFill>
            <a:srgbClr val="2EA043">
              <a:alpha val="20000"/>
            </a:srgbClr>
          </a:solidFill>
          <a:ln w="25400">
            <a:solidFill>
              <a:srgbClr val="2EA04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5820" y="1600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EA0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411480" y="2697480"/>
            <a:ext cx="178308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400" b="1" err="1">
                <a:solidFill>
                  <a:srgbClr val="0D1117"/>
                </a:solidFill>
                <a:ea typeface="+mn-lt"/>
                <a:cs typeface="+mn-lt"/>
              </a:rPr>
              <a:t>Алтай</a:t>
            </a:r>
            <a:r>
              <a:rPr lang="en-US" sz="1400" b="1">
                <a:solidFill>
                  <a:srgbClr val="0D1117"/>
                </a:solidFill>
                <a:ea typeface="+mn-lt"/>
                <a:cs typeface="+mn-lt"/>
              </a:rPr>
              <a:t> </a:t>
            </a:r>
            <a:r>
              <a:rPr lang="en-US" sz="1400" b="1" err="1">
                <a:solidFill>
                  <a:srgbClr val="0D1117"/>
                </a:solidFill>
                <a:ea typeface="+mn-lt"/>
                <a:cs typeface="+mn-lt"/>
              </a:rPr>
              <a:t>Йеменджиев</a:t>
            </a:r>
            <a:endParaRPr lang="bg-BG" err="1">
              <a:ea typeface="+mn-lt"/>
              <a:cs typeface="+mn-lt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3182112"/>
            <a:ext cx="1508760" cy="347472"/>
          </a:xfrm>
          <a:prstGeom prst="rect">
            <a:avLst/>
          </a:prstGeom>
          <a:solidFill>
            <a:srgbClr val="2EA043">
              <a:alpha val="15000"/>
            </a:srgbClr>
          </a:solidFill>
          <a:ln w="6350">
            <a:solidFill>
              <a:srgbClr val="2EA0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182112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A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Scrum Trainer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11480" y="3657600"/>
            <a:ext cx="178308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8B949E"/>
                </a:solidFill>
                <a:latin typeface="Arial"/>
                <a:ea typeface="Arial" pitchFamily="34" charset="-122"/>
                <a:cs typeface="Arial"/>
              </a:rPr>
              <a:t>Class 9Е</a:t>
            </a:r>
            <a:endParaRPr lang="en-US" sz="1200">
              <a:latin typeface="Arial"/>
              <a:cs typeface="Arial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2496312" y="1280160"/>
            <a:ext cx="19659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496312" y="1280160"/>
            <a:ext cx="1965960" cy="164592"/>
          </a:xfrm>
          <a:prstGeom prst="rect">
            <a:avLst/>
          </a:prstGeom>
          <a:solidFill>
            <a:srgbClr val="E53E6D"/>
          </a:solidFill>
          <a:ln w="12700">
            <a:solidFill>
              <a:srgbClr val="E53E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022092" y="1600200"/>
            <a:ext cx="914400" cy="914400"/>
          </a:xfrm>
          <a:prstGeom prst="ellipse">
            <a:avLst/>
          </a:prstGeom>
          <a:solidFill>
            <a:srgbClr val="E53E6D">
              <a:alpha val="20000"/>
            </a:srgbClr>
          </a:solidFill>
          <a:ln w="25400">
            <a:solidFill>
              <a:srgbClr val="E53E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22092" y="1600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53E6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2587752" y="2697480"/>
            <a:ext cx="178308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400" b="1" dirty="0" err="1">
                <a:solidFill>
                  <a:srgbClr val="0D1117"/>
                </a:solidFill>
                <a:ea typeface="+mn-lt"/>
                <a:cs typeface="+mn-lt"/>
              </a:rPr>
              <a:t>Мирослав</a:t>
            </a:r>
            <a:r>
              <a:rPr lang="en-US" sz="1400" b="1" dirty="0">
                <a:solidFill>
                  <a:srgbClr val="0D1117"/>
                </a:solidFill>
                <a:ea typeface="+mn-lt"/>
                <a:cs typeface="+mn-lt"/>
              </a:rPr>
              <a:t> </a:t>
            </a:r>
            <a:r>
              <a:rPr lang="en-US" sz="1400" b="1" dirty="0" err="1">
                <a:solidFill>
                  <a:srgbClr val="0D1117"/>
                </a:solidFill>
                <a:ea typeface="+mn-lt"/>
                <a:cs typeface="+mn-lt"/>
              </a:rPr>
              <a:t>Илиев</a:t>
            </a:r>
            <a:endParaRPr lang="bg-BG" dirty="0" err="1">
              <a:ea typeface="+mn-lt"/>
              <a:cs typeface="+mn-lt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2724912" y="3182112"/>
            <a:ext cx="1508760" cy="347472"/>
          </a:xfrm>
          <a:prstGeom prst="rect">
            <a:avLst/>
          </a:prstGeom>
          <a:solidFill>
            <a:srgbClr val="E53E6D">
              <a:alpha val="15000"/>
            </a:srgbClr>
          </a:solidFill>
          <a:ln w="6350">
            <a:solidFill>
              <a:srgbClr val="E53E6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724912" y="3182112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3E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Developer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587752" y="3657600"/>
            <a:ext cx="178308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8B949E"/>
                </a:solidFill>
                <a:latin typeface="Arial"/>
                <a:ea typeface="Arial" pitchFamily="34" charset="-122"/>
                <a:cs typeface="Arial"/>
              </a:rPr>
              <a:t>Class 9Б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672584" y="1280160"/>
            <a:ext cx="19659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672584" y="1280160"/>
            <a:ext cx="1965960" cy="1645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198364" y="1600200"/>
            <a:ext cx="914400" cy="914400"/>
          </a:xfrm>
          <a:prstGeom prst="ellipse">
            <a:avLst/>
          </a:prstGeom>
          <a:solidFill>
            <a:srgbClr val="3B82F6">
              <a:alpha val="20000"/>
            </a:srgbClr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198364" y="1600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4764024" y="2697480"/>
            <a:ext cx="178308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400" b="1" dirty="0">
                <a:solidFill>
                  <a:srgbClr val="0D1117"/>
                </a:solidFill>
                <a:ea typeface="+mn-lt"/>
                <a:cs typeface="+mn-lt"/>
              </a:rPr>
              <a:t>Йордан </a:t>
            </a:r>
            <a:r>
              <a:rPr lang="en-US" sz="1400" b="1" dirty="0" err="1">
                <a:solidFill>
                  <a:srgbClr val="0D1117"/>
                </a:solidFill>
                <a:ea typeface="+mn-lt"/>
                <a:cs typeface="+mn-lt"/>
              </a:rPr>
              <a:t>Райнов</a:t>
            </a:r>
            <a:endParaRPr lang="bg-BG" dirty="0" err="1">
              <a:ea typeface="+mn-lt"/>
              <a:cs typeface="+mn-lt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4901184" y="3182112"/>
            <a:ext cx="1508760" cy="347472"/>
          </a:xfrm>
          <a:prstGeom prst="rect">
            <a:avLst/>
          </a:prstGeom>
          <a:solidFill>
            <a:srgbClr val="3B82F6">
              <a:alpha val="15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901184" y="3182112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Developer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764024" y="3657600"/>
            <a:ext cx="178308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8B949E"/>
                </a:solidFill>
                <a:latin typeface="Arial"/>
                <a:ea typeface="Arial" pitchFamily="34" charset="-122"/>
                <a:cs typeface="Arial"/>
              </a:rPr>
              <a:t>Class 9Б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848856" y="1280160"/>
            <a:ext cx="19659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48856" y="1280160"/>
            <a:ext cx="1965960" cy="16459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374636" y="1600200"/>
            <a:ext cx="914400" cy="914400"/>
          </a:xfrm>
          <a:prstGeom prst="ellipse">
            <a:avLst/>
          </a:prstGeom>
          <a:solidFill>
            <a:srgbClr val="8B5CF6">
              <a:alpha val="20000"/>
            </a:srgbClr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374636" y="1600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8B5C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</a:t>
            </a:r>
            <a:endParaRPr lang="en-US" sz="2800" dirty="0"/>
          </a:p>
        </p:txBody>
      </p:sp>
      <p:sp>
        <p:nvSpPr>
          <p:cNvPr id="34" name="Text 31"/>
          <p:cNvSpPr/>
          <p:nvPr/>
        </p:nvSpPr>
        <p:spPr>
          <a:xfrm>
            <a:off x="6940296" y="2697480"/>
            <a:ext cx="178308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400" b="1" dirty="0" err="1">
                <a:solidFill>
                  <a:srgbClr val="0D1117"/>
                </a:solidFill>
                <a:ea typeface="+mn-lt"/>
                <a:cs typeface="+mn-lt"/>
              </a:rPr>
              <a:t>Артем</a:t>
            </a:r>
            <a:r>
              <a:rPr lang="en-US" sz="1400" b="1" dirty="0">
                <a:solidFill>
                  <a:srgbClr val="0D1117"/>
                </a:solidFill>
                <a:ea typeface="+mn-lt"/>
                <a:cs typeface="+mn-lt"/>
              </a:rPr>
              <a:t> </a:t>
            </a:r>
            <a:r>
              <a:rPr lang="en-US" sz="1400" b="1" dirty="0" err="1">
                <a:solidFill>
                  <a:srgbClr val="0D1117"/>
                </a:solidFill>
                <a:ea typeface="+mn-lt"/>
                <a:cs typeface="+mn-lt"/>
              </a:rPr>
              <a:t>Бок</a:t>
            </a:r>
            <a:endParaRPr lang="bg-BG" dirty="0" err="1">
              <a:ea typeface="+mn-lt"/>
              <a:cs typeface="+mn-lt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7077456" y="3182112"/>
            <a:ext cx="1508760" cy="347472"/>
          </a:xfrm>
          <a:prstGeom prst="rect">
            <a:avLst/>
          </a:prstGeom>
          <a:solidFill>
            <a:srgbClr val="8B5CF6">
              <a:alpha val="15000"/>
            </a:srgbClr>
          </a:solidFill>
          <a:ln w="6350">
            <a:solidFill>
              <a:srgbClr val="8B5CF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077456" y="3182112"/>
            <a:ext cx="150876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8B5CF6"/>
                </a:solidFill>
                <a:latin typeface="Arial"/>
                <a:cs typeface="Arial"/>
              </a:rPr>
              <a:t>Designer</a:t>
            </a:r>
            <a:endParaRPr lang="en-US" sz="1100" b="1" dirty="0">
              <a:solidFill>
                <a:srgbClr val="8B5CF6"/>
              </a:solidFill>
              <a:latin typeface="Arial"/>
              <a:cs typeface="Arial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940296" y="3657600"/>
            <a:ext cx="178308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8B949E"/>
                </a:solidFill>
                <a:latin typeface="Arial"/>
                <a:ea typeface="Arial" pitchFamily="34" charset="-122"/>
                <a:cs typeface="Arial"/>
              </a:rPr>
              <a:t>Class 9Е</a:t>
            </a:r>
            <a:endParaRPr lang="en-US" sz="1200" dirty="0"/>
          </a:p>
        </p:txBody>
      </p:sp>
      <p:pic>
        <p:nvPicPr>
          <p:cNvPr id="201" name="photo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614" y="1600200"/>
            <a:ext cx="914400" cy="914400"/>
          </a:xfrm>
          <a:prstGeom prst="ellipse">
            <a:avLst/>
          </a:prstGeom>
        </p:spPr>
      </p:pic>
      <p:pic>
        <p:nvPicPr>
          <p:cNvPr id="202" name="photo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695" y="1600200"/>
            <a:ext cx="914400" cy="914400"/>
          </a:xfrm>
          <a:prstGeom prst="ellipse">
            <a:avLst/>
          </a:prstGeom>
        </p:spPr>
      </p:pic>
      <p:pic>
        <p:nvPicPr>
          <p:cNvPr id="203" name="photo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4761" y="1600200"/>
            <a:ext cx="914400" cy="914400"/>
          </a:xfrm>
          <a:prstGeom prst="ellipse">
            <a:avLst/>
          </a:prstGeom>
        </p:spPr>
      </p:pic>
      <p:pic>
        <p:nvPicPr>
          <p:cNvPr id="204" name="photo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21841" y="1600200"/>
            <a:ext cx="914400" cy="914400"/>
          </a:xfrm>
          <a:prstGeom prst="ellipse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Idea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8686800" cy="45720"/>
          </a:xfrm>
          <a:prstGeom prst="rect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51560"/>
            <a:ext cx="5212080" cy="2926080"/>
          </a:xfrm>
          <a:prstGeom prst="rect">
            <a:avLst/>
          </a:prstGeom>
          <a:solidFill>
            <a:srgbClr val="1C2526"/>
          </a:solidFill>
          <a:ln w="6350">
            <a:solidFill>
              <a:srgbClr val="2EA0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48463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Nexus School Software is a C++ console application that acts as a complete Electronic School focused on Web Technologies — HTML, CSS and JavaScript.</a:t>
            </a:r>
            <a:endParaRPr lang="en-US" sz="1350" dirty="0"/>
          </a:p>
          <a:p>
            <a:pPr marL="0" indent="0" algn="l">
              <a:buNone/>
            </a:pP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can study lesson content, take a dynamically generated 20-question test drawn from a 30-question bank, and review their performance through a full statistics dashboard.</a:t>
            </a:r>
            <a:endParaRPr lang="en-US" sz="1350" dirty="0"/>
          </a:p>
          <a:p>
            <a:pPr marL="0" indent="0" algn="l">
              <a:buNone/>
            </a:pP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features account sign-up/login, per-student randomized question order, and real-time colored feedback.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0720" y="1051560"/>
            <a:ext cx="3154680" cy="658368"/>
          </a:xfrm>
          <a:prstGeom prst="rect">
            <a:avLst/>
          </a:prstGeom>
          <a:solidFill>
            <a:srgbClr val="1C2526"/>
          </a:solidFill>
          <a:ln w="6350">
            <a:solidFill>
              <a:srgbClr val="2EA04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0" y="1051560"/>
            <a:ext cx="109728" cy="658368"/>
          </a:xfrm>
          <a:prstGeom prst="rect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89320" y="109728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EA0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49440" y="1097280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in bank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760720" y="1801368"/>
            <a:ext cx="3154680" cy="658368"/>
          </a:xfrm>
          <a:prstGeom prst="rect">
            <a:avLst/>
          </a:prstGeom>
          <a:solidFill>
            <a:srgbClr val="1C2526"/>
          </a:solidFill>
          <a:ln w="6350">
            <a:solidFill>
              <a:srgbClr val="E53E6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60720" y="1801368"/>
            <a:ext cx="109728" cy="658368"/>
          </a:xfrm>
          <a:prstGeom prst="rect">
            <a:avLst/>
          </a:prstGeom>
          <a:solidFill>
            <a:srgbClr val="E53E6D"/>
          </a:solidFill>
          <a:ln w="12700">
            <a:solidFill>
              <a:srgbClr val="E53E6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9320" y="184708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53E6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949440" y="1847088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test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60720" y="2551176"/>
            <a:ext cx="3154680" cy="658368"/>
          </a:xfrm>
          <a:prstGeom prst="rect">
            <a:avLst/>
          </a:prstGeom>
          <a:solidFill>
            <a:srgbClr val="1C2526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60720" y="2551176"/>
            <a:ext cx="109728" cy="65836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89320" y="259689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3M+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949440" y="259689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variants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60720" y="3300984"/>
            <a:ext cx="3154680" cy="658368"/>
          </a:xfrm>
          <a:prstGeom prst="rect">
            <a:avLst/>
          </a:prstGeom>
          <a:solidFill>
            <a:srgbClr val="1C2526"/>
          </a:solidFill>
          <a:ln w="6350">
            <a:solidFill>
              <a:srgbClr val="8B5C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0" y="3300984"/>
            <a:ext cx="109728" cy="6583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89320" y="334670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8B5C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C++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949440" y="3346704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0040" y="4480560"/>
            <a:ext cx="86868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100" i="1" dirty="0">
                <a:solidFill>
                  <a:srgbClr val="8B949E"/>
                </a:solidFill>
                <a:latin typeface="Arial"/>
                <a:ea typeface="Arial" pitchFamily="34" charset="-122"/>
                <a:cs typeface="Arial"/>
              </a:rPr>
              <a:t>Topic: HTML · CSS · JavaScript  |  Language: C++  |  Genre: Educational</a:t>
            </a:r>
            <a:endParaRPr lang="en-US" sz="1100">
              <a:latin typeface="Arial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F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1440"/>
            <a:ext cx="667512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09728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Stages of Development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74320" y="1188720"/>
            <a:ext cx="1417320" cy="658368"/>
          </a:xfrm>
          <a:prstGeom prst="rect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1188720"/>
            <a:ext cx="1417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WEEK 1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691640" y="1463040"/>
            <a:ext cx="274320" cy="109728"/>
          </a:xfrm>
          <a:prstGeom prst="rect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65960" y="1188720"/>
            <a:ext cx="68580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2EA04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65960" y="1188720"/>
            <a:ext cx="91440" cy="658368"/>
          </a:xfrm>
          <a:prstGeom prst="rect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148840" y="1225296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&amp; Setup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148840" y="1481328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formation, topic selection (Web Technologies), GitHub setup, logo design and initial project planning.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74320" y="2103120"/>
            <a:ext cx="1417320" cy="658368"/>
          </a:xfrm>
          <a:prstGeom prst="rect">
            <a:avLst/>
          </a:prstGeom>
          <a:solidFill>
            <a:srgbClr val="E53E6D"/>
          </a:solidFill>
          <a:ln w="12700">
            <a:solidFill>
              <a:srgbClr val="E53E6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74320" y="2103120"/>
            <a:ext cx="1417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WEEK 2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691640" y="2377440"/>
            <a:ext cx="274320" cy="109728"/>
          </a:xfrm>
          <a:prstGeom prst="rect">
            <a:avLst/>
          </a:prstGeom>
          <a:solidFill>
            <a:srgbClr val="E53E6D"/>
          </a:solidFill>
          <a:ln w="12700">
            <a:solidFill>
              <a:srgbClr val="E53E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965960" y="2103120"/>
            <a:ext cx="68580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53E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965960" y="2103120"/>
            <a:ext cx="91440" cy="658368"/>
          </a:xfrm>
          <a:prstGeom prst="rect">
            <a:avLst/>
          </a:prstGeom>
          <a:solidFill>
            <a:srgbClr val="E53E6D"/>
          </a:solidFill>
          <a:ln w="12700">
            <a:solidFill>
              <a:srgbClr val="E53E6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148840" y="2139696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&amp; Questions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2148840" y="2395728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module structure, created 30-question bank across 3 categories (HTML, CSS, JS), auth and randomizer.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274320" y="3017520"/>
            <a:ext cx="1417320" cy="65836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4320" y="3017520"/>
            <a:ext cx="1417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WEEK 3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1691640" y="3291840"/>
            <a:ext cx="274320" cy="1097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965960" y="3017520"/>
            <a:ext cx="68580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965960" y="3017520"/>
            <a:ext cx="91440" cy="65836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148840" y="3054096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Implementation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2148840" y="3310128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test engine, grading logic, statistics module, lesson content, colors/UI utilities and homework module.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274320" y="3931920"/>
            <a:ext cx="1417320" cy="6583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74320" y="3931920"/>
            <a:ext cx="1417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WEEK 4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1691640" y="4206240"/>
            <a:ext cx="274320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965960" y="3931920"/>
            <a:ext cx="68580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8B5CF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965960" y="3931920"/>
            <a:ext cx="91440" cy="6583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148840" y="3968496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Polish &amp; Delivery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2148840" y="4224528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Integration, bug fixing, documentation (10 pages), presentation, GitHub commits cleanup and final demo.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64592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Used Technologies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8686800" cy="45720"/>
          </a:xfrm>
          <a:prstGeom prst="rect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05840"/>
            <a:ext cx="4297680" cy="1005840"/>
          </a:xfrm>
          <a:prstGeom prst="rect">
            <a:avLst/>
          </a:prstGeom>
          <a:solidFill>
            <a:srgbClr val="1C2526"/>
          </a:solidFill>
          <a:ln w="6350">
            <a:solidFill>
              <a:srgbClr val="2EA04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05840"/>
            <a:ext cx="91440" cy="1005840"/>
          </a:xfrm>
          <a:prstGeom prst="rect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" y="1078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(C++11/14)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21208" y="1463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language – only language used, as required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00600" y="1005840"/>
            <a:ext cx="4297680" cy="1005840"/>
          </a:xfrm>
          <a:prstGeom prst="rect">
            <a:avLst/>
          </a:prstGeom>
          <a:solidFill>
            <a:srgbClr val="1C2526"/>
          </a:solidFill>
          <a:ln w="6350">
            <a:solidFill>
              <a:srgbClr val="56D36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005840"/>
            <a:ext cx="91440" cy="1005840"/>
          </a:xfrm>
          <a:prstGeom prst="rect">
            <a:avLst/>
          </a:prstGeom>
          <a:solidFill>
            <a:srgbClr val="56D364"/>
          </a:solidFill>
          <a:ln w="12700">
            <a:solidFill>
              <a:srgbClr val="56D3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01768" y="1078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std::string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01768" y="1463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text handling, input/output and data storage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212848"/>
            <a:ext cx="4297680" cy="1005840"/>
          </a:xfrm>
          <a:prstGeom prst="rect">
            <a:avLst/>
          </a:prstGeom>
          <a:solidFill>
            <a:srgbClr val="1C2526"/>
          </a:solidFill>
          <a:ln w="6350">
            <a:solidFill>
              <a:srgbClr val="E53E6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2212848"/>
            <a:ext cx="91440" cy="1005840"/>
          </a:xfrm>
          <a:prstGeom prst="rect">
            <a:avLst/>
          </a:prstGeom>
          <a:solidFill>
            <a:srgbClr val="E53E6D"/>
          </a:solidFill>
          <a:ln w="12700">
            <a:solidFill>
              <a:srgbClr val="E53E6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" y="2286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 Escape Codes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1208" y="26700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Colored console output, cursor control (no lib needed)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2212848"/>
            <a:ext cx="4297680" cy="1005840"/>
          </a:xfrm>
          <a:prstGeom prst="rect">
            <a:avLst/>
          </a:prstGeom>
          <a:solidFill>
            <a:srgbClr val="1C2526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2212848"/>
            <a:ext cx="91440" cy="10058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2286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LCG RNG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01768" y="26700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Seeded randomizer in randomizer.cpp – no std::rand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3419856"/>
            <a:ext cx="4297680" cy="1005840"/>
          </a:xfrm>
          <a:prstGeom prst="rect">
            <a:avLst/>
          </a:prstGeom>
          <a:solidFill>
            <a:srgbClr val="1C2526"/>
          </a:solidFill>
          <a:ln w="6350">
            <a:solidFill>
              <a:srgbClr val="8B5C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" y="3419856"/>
            <a:ext cx="91440" cy="10058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" y="34930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&amp; Git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1208" y="38770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control, commits, issues, project planning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00600" y="3419856"/>
            <a:ext cx="4297680" cy="1005840"/>
          </a:xfrm>
          <a:prstGeom prst="rect">
            <a:avLst/>
          </a:prstGeom>
          <a:solidFill>
            <a:srgbClr val="1C2526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3419856"/>
            <a:ext cx="9144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01768" y="34930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Studio 2022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001768" y="38770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 and compiler used during development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0040" y="4709160"/>
            <a:ext cx="8686800" cy="45720"/>
          </a:xfrm>
          <a:prstGeom prst="rect">
            <a:avLst/>
          </a:prstGeom>
          <a:solidFill>
            <a:srgbClr val="E53E6D"/>
          </a:solidFill>
          <a:ln w="12700">
            <a:solidFill>
              <a:srgbClr val="E53E6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773168"/>
            <a:ext cx="868680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1000" i="1" dirty="0">
              <a:solidFill>
                <a:srgbClr val="8B949E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F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1440"/>
            <a:ext cx="667512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09728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Features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74320" y="1170432"/>
            <a:ext cx="425196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1170432"/>
            <a:ext cx="109728" cy="1078992"/>
          </a:xfrm>
          <a:prstGeom prst="rect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1289304"/>
            <a:ext cx="201168" cy="201168"/>
          </a:xfrm>
          <a:prstGeom prst="ellipse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12344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System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02920" y="16276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Sign-up &amp; login with up to 10 accounts. Passwords stored per-user, extensible to hashing.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754880" y="1170432"/>
            <a:ext cx="425196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170432"/>
            <a:ext cx="109728" cy="1078992"/>
          </a:xfrm>
          <a:prstGeom prst="rect">
            <a:avLst/>
          </a:prstGeom>
          <a:solidFill>
            <a:srgbClr val="E53E6D"/>
          </a:solidFill>
          <a:ln w="12700">
            <a:solidFill>
              <a:srgbClr val="E53E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83480" y="1289304"/>
            <a:ext cx="201168" cy="201168"/>
          </a:xfrm>
          <a:prstGeom prst="ellipse">
            <a:avLst/>
          </a:prstGeom>
          <a:solidFill>
            <a:srgbClr val="E53E6D"/>
          </a:solidFill>
          <a:ln w="12700">
            <a:solidFill>
              <a:srgbClr val="E53E6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257800" y="12344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Modules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983480" y="16276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interactive lessons: HTML Basics, CSS Basics, JavaScript Basics.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274320" y="2414016"/>
            <a:ext cx="425196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74320" y="2414016"/>
            <a:ext cx="109728" cy="10789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2920" y="2532888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7240" y="247802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Test Engine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02920" y="287121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HTML + 7 CSS + 6 JS questions drawn randomly, shuffled, with real-time colored feedback.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754880" y="2414016"/>
            <a:ext cx="425196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754880" y="2414016"/>
            <a:ext cx="109728" cy="107899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983480" y="2532888"/>
            <a:ext cx="201168" cy="20116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257800" y="247802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Grading Scale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4983480" y="287121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Bulgarian 6-point scale: 2 (&lt;45%) · 3 (45%) · 4 (60%) · 5 (75%) · 6 (90%+).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274320" y="3657600"/>
            <a:ext cx="425196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274320" y="3657600"/>
            <a:ext cx="109728" cy="10789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02920" y="37764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77240" y="37216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 Dashboard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502920" y="411480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highest/lowest/average grade and per-category success rates (HTML, CSS, JS).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4754880" y="3657600"/>
            <a:ext cx="425196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754880" y="3657600"/>
            <a:ext cx="109728" cy="1078992"/>
          </a:xfrm>
          <a:prstGeom prst="rect">
            <a:avLst/>
          </a:prstGeom>
          <a:solidFill>
            <a:srgbClr val="56D364"/>
          </a:solidFill>
          <a:ln w="12700">
            <a:solidFill>
              <a:srgbClr val="56D36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983480" y="3776472"/>
            <a:ext cx="201168" cy="201168"/>
          </a:xfrm>
          <a:prstGeom prst="ellipse">
            <a:avLst/>
          </a:prstGeom>
          <a:solidFill>
            <a:srgbClr val="56D364"/>
          </a:solidFill>
          <a:ln w="12700">
            <a:solidFill>
              <a:srgbClr val="56D36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257800" y="37216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3M+ Test Variants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983480" y="411480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C(10,7)×C(10,7)×C(10,6) = 3,024,000 unique test compositions.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E53E6D"/>
          </a:solidFill>
          <a:ln w="12700">
            <a:solidFill>
              <a:srgbClr val="E53E6D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57200"/>
            <a:ext cx="1828800" cy="14996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1488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Let's move to the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57200" y="28346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>
                <a:solidFill>
                  <a:srgbClr val="2EA043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APPLICATION!</a:t>
            </a:r>
            <a:endParaRPr lang="en-US" sz="5200">
              <a:latin typeface="Arial Black"/>
            </a:endParaRPr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949E"/>
                </a:solidFill>
                <a:ea typeface="+mn-lt"/>
                <a:cs typeface="+mn-lt"/>
              </a:rPr>
              <a:t>https://github.com/MGIliev24/NSS</a:t>
            </a:r>
            <a:endParaRPr lang="bg-BG" dirty="0">
              <a:ea typeface="+mn-lt"/>
              <a:cs typeface="+mn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на Office">
  <a:themeElements>
    <a:clrScheme name="О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Презентация на цял екран (16:9)</PresentationFormat>
  <Paragraphs>0</Paragraphs>
  <Slides>7</Slides>
  <Notes>7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7</vt:i4>
      </vt:variant>
    </vt:vector>
  </HeadingPairs>
  <TitlesOfParts>
    <vt:vector size="8" baseType="lpstr">
      <vt:lpstr>Office Theme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School Software – Presentation</dc:title>
  <dc:subject>PptxGenJS Presentation</dc:subject>
  <dc:creator>Nexus School Software</dc:creator>
  <cp:lastModifiedBy>Nexus School Software</cp:lastModifiedBy>
  <cp:revision>29</cp:revision>
  <dcterms:created xsi:type="dcterms:W3CDTF">2026-03-24T19:29:28Z</dcterms:created>
  <dcterms:modified xsi:type="dcterms:W3CDTF">2026-03-24T19:54:22Z</dcterms:modified>
</cp:coreProperties>
</file>