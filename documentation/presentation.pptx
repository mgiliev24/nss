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A828A-EADA-F17D-9EF8-EDEB7AE30384}" v="38" dt="2026-03-24T19:54:10.226"/>
    <p1510:client id="{B1ED1D0F-CC5D-94E0-74E3-8B7EEFE22072}" v="12" dt="2026-03-24T23:58:46.049"/>
    <p1510:client id="{CCE14515-3107-BBAA-351E-EFFC8FEDA26B}" v="18" dt="2026-03-24T19:38:58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F1103-E7AA-4EFD-9207-0B4DB64C37DC}" type="datetimeFigureOut">
              <a:t>3/24/2026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8BA8A-C6A8-439B-8D15-1998D090B1E3}" type="slidenum"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3123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6459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228600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4974336"/>
            <a:ext cx="8979408" cy="164592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1371600" cy="11247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8229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 SCHOOL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011680" y="15544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A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2011680" y="2377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School  ·  Web Technologies  ·  C++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11680" y="2880360"/>
            <a:ext cx="41148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0" y="3017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High School of Computer Programming and Innovations – Burgas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01168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6D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2025 / 2026  |  Grade 9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64592" y="4480560"/>
            <a:ext cx="8979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300" i="1" dirty="0">
              <a:solidFill>
                <a:srgbClr val="E53E6D"/>
              </a:solidFill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667512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Team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280160"/>
            <a:ext cx="1965960" cy="16459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5820" y="1600200"/>
            <a:ext cx="914400" cy="914400"/>
          </a:xfrm>
          <a:prstGeom prst="ellipse">
            <a:avLst/>
          </a:prstGeom>
          <a:solidFill>
            <a:srgbClr val="2EA043">
              <a:alpha val="20000"/>
            </a:srgbClr>
          </a:solidFill>
          <a:ln w="25400">
            <a:solidFill>
              <a:srgbClr val="2EA0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A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11480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 err="1">
                <a:solidFill>
                  <a:srgbClr val="0D1117"/>
                </a:solidFill>
                <a:ea typeface="+mn-lt"/>
                <a:cs typeface="+mn-lt"/>
              </a:rPr>
              <a:t>Алтай</a:t>
            </a:r>
            <a:r>
              <a:rPr lang="en-US" sz="1400" b="1">
                <a:solidFill>
                  <a:srgbClr val="0D1117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rgbClr val="0D1117"/>
                </a:solidFill>
                <a:ea typeface="+mn-lt"/>
                <a:cs typeface="+mn-lt"/>
              </a:rPr>
              <a:t>Йеменджиев</a:t>
            </a:r>
            <a:endParaRPr lang="bg-BG" err="1">
              <a:ea typeface="+mn-lt"/>
              <a:cs typeface="+mn-lt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3182112"/>
            <a:ext cx="1508760" cy="347472"/>
          </a:xfrm>
          <a:prstGeom prst="rect">
            <a:avLst/>
          </a:prstGeom>
          <a:solidFill>
            <a:srgbClr val="2EA043">
              <a:alpha val="15000"/>
            </a:srgbClr>
          </a:solidFill>
          <a:ln w="6350">
            <a:solidFill>
              <a:srgbClr val="2EA0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1821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A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Trainer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B949E"/>
                </a:solidFill>
                <a:latin typeface="Arial"/>
                <a:ea typeface="Arial" pitchFamily="34" charset="-122"/>
                <a:cs typeface="Arial"/>
              </a:rPr>
              <a:t>Class 9В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496312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96312" y="1280160"/>
            <a:ext cx="1965960" cy="164592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22092" y="1600200"/>
            <a:ext cx="914400" cy="914400"/>
          </a:xfrm>
          <a:prstGeom prst="ellipse">
            <a:avLst/>
          </a:prstGeom>
          <a:solidFill>
            <a:srgbClr val="E53E6D">
              <a:alpha val="20000"/>
            </a:srgbClr>
          </a:solidFill>
          <a:ln w="25400">
            <a:solidFill>
              <a:srgbClr val="E53E6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22092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3E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587752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 dirty="0" err="1">
                <a:solidFill>
                  <a:srgbClr val="0D1117"/>
                </a:solidFill>
                <a:ea typeface="+mn-lt"/>
                <a:cs typeface="+mn-lt"/>
              </a:rPr>
              <a:t>Мирослав</a:t>
            </a:r>
            <a:r>
              <a:rPr lang="en-US" sz="1400" b="1" dirty="0">
                <a:solidFill>
                  <a:srgbClr val="0D1117"/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rgbClr val="0D1117"/>
                </a:solidFill>
                <a:ea typeface="+mn-lt"/>
                <a:cs typeface="+mn-lt"/>
              </a:rPr>
              <a:t>Илиев</a:t>
            </a:r>
            <a:endParaRPr lang="bg-BG" dirty="0" err="1">
              <a:ea typeface="+mn-lt"/>
              <a:cs typeface="+mn-lt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724912" y="3182112"/>
            <a:ext cx="1508760" cy="347472"/>
          </a:xfrm>
          <a:prstGeom prst="rect">
            <a:avLst/>
          </a:prstGeom>
          <a:solidFill>
            <a:srgbClr val="E53E6D">
              <a:alpha val="15000"/>
            </a:srgbClr>
          </a:solidFill>
          <a:ln w="6350">
            <a:solidFill>
              <a:srgbClr val="E53E6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24912" y="31821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587752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B949E"/>
                </a:solidFill>
                <a:latin typeface="Arial"/>
                <a:ea typeface="Arial" pitchFamily="34" charset="-122"/>
                <a:cs typeface="Arial"/>
              </a:rPr>
              <a:t>Class 9Б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72584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72584" y="1280160"/>
            <a:ext cx="196596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98364" y="1600200"/>
            <a:ext cx="914400" cy="9144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8364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4764024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 dirty="0">
                <a:solidFill>
                  <a:srgbClr val="0D1117"/>
                </a:solidFill>
                <a:ea typeface="+mn-lt"/>
                <a:cs typeface="+mn-lt"/>
              </a:rPr>
              <a:t>Йордан </a:t>
            </a:r>
            <a:r>
              <a:rPr lang="en-US" sz="1400" b="1" dirty="0" err="1">
                <a:solidFill>
                  <a:srgbClr val="0D1117"/>
                </a:solidFill>
                <a:ea typeface="+mn-lt"/>
                <a:cs typeface="+mn-lt"/>
              </a:rPr>
              <a:t>Райнов</a:t>
            </a:r>
            <a:endParaRPr lang="bg-BG" dirty="0" err="1">
              <a:ea typeface="+mn-lt"/>
              <a:cs typeface="+mn-lt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901184" y="3182112"/>
            <a:ext cx="1508760" cy="347472"/>
          </a:xfrm>
          <a:prstGeom prst="rect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01184" y="31821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64024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B949E"/>
                </a:solidFill>
                <a:latin typeface="Arial"/>
                <a:ea typeface="Arial" pitchFamily="34" charset="-122"/>
                <a:cs typeface="Arial"/>
              </a:rPr>
              <a:t>Class 9Б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848856" y="128016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48856" y="1280160"/>
            <a:ext cx="196596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374636" y="1600200"/>
            <a:ext cx="914400" cy="914400"/>
          </a:xfrm>
          <a:prstGeom prst="ellipse">
            <a:avLst/>
          </a:prstGeom>
          <a:solidFill>
            <a:srgbClr val="8B5CF6">
              <a:alpha val="2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74636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6940296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 dirty="0" err="1">
                <a:solidFill>
                  <a:srgbClr val="0D1117"/>
                </a:solidFill>
                <a:ea typeface="+mn-lt"/>
                <a:cs typeface="+mn-lt"/>
              </a:rPr>
              <a:t>Артем</a:t>
            </a:r>
            <a:r>
              <a:rPr lang="en-US" sz="1400" b="1" dirty="0">
                <a:solidFill>
                  <a:srgbClr val="0D1117"/>
                </a:solidFill>
                <a:ea typeface="+mn-lt"/>
                <a:cs typeface="+mn-lt"/>
              </a:rPr>
              <a:t> </a:t>
            </a:r>
            <a:r>
              <a:rPr lang="en-US" sz="1400" b="1" dirty="0" err="1">
                <a:solidFill>
                  <a:srgbClr val="0D1117"/>
                </a:solidFill>
                <a:ea typeface="+mn-lt"/>
                <a:cs typeface="+mn-lt"/>
              </a:rPr>
              <a:t>Бок</a:t>
            </a:r>
            <a:endParaRPr lang="bg-BG" dirty="0" err="1">
              <a:ea typeface="+mn-lt"/>
              <a:cs typeface="+mn-lt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077456" y="3182112"/>
            <a:ext cx="1508760" cy="347472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77456" y="3182112"/>
            <a:ext cx="15087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8B5CF6"/>
                </a:solidFill>
                <a:latin typeface="Arial"/>
                <a:cs typeface="Arial"/>
              </a:rPr>
              <a:t>Designer</a:t>
            </a:r>
            <a:endParaRPr lang="en-US" sz="1100" b="1" dirty="0">
              <a:solidFill>
                <a:srgbClr val="8B5CF6"/>
              </a:solidFill>
              <a:latin typeface="Arial"/>
              <a:cs typeface="Arial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940296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B949E"/>
                </a:solidFill>
                <a:latin typeface="Arial"/>
                <a:ea typeface="Arial" pitchFamily="34" charset="-122"/>
                <a:cs typeface="Arial"/>
              </a:rPr>
              <a:t>Class 9В</a:t>
            </a:r>
            <a:endParaRPr lang="en-US" sz="1200" dirty="0"/>
          </a:p>
        </p:txBody>
      </p:sp>
      <p:pic>
        <p:nvPicPr>
          <p:cNvPr id="201" name="photo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614" y="1600200"/>
            <a:ext cx="914400" cy="914400"/>
          </a:xfrm>
          <a:prstGeom prst="ellipse">
            <a:avLst/>
          </a:prstGeom>
        </p:spPr>
      </p:pic>
      <p:pic>
        <p:nvPicPr>
          <p:cNvPr id="202" name="photo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95" y="1600200"/>
            <a:ext cx="914400" cy="914400"/>
          </a:xfrm>
          <a:prstGeom prst="ellipse">
            <a:avLst/>
          </a:prstGeom>
        </p:spPr>
      </p:pic>
      <p:pic>
        <p:nvPicPr>
          <p:cNvPr id="203" name="photo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4761" y="1600200"/>
            <a:ext cx="914400" cy="914400"/>
          </a:xfrm>
          <a:prstGeom prst="ellipse">
            <a:avLst/>
          </a:prstGeom>
        </p:spPr>
      </p:pic>
      <p:pic>
        <p:nvPicPr>
          <p:cNvPr id="204" name="photo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1841" y="1600200"/>
            <a:ext cx="914400" cy="91440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Idea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6868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5212080" cy="2926080"/>
          </a:xfrm>
          <a:prstGeom prst="rect">
            <a:avLst/>
          </a:prstGeom>
          <a:solidFill>
            <a:srgbClr val="1C2526"/>
          </a:solidFill>
          <a:ln w="6350">
            <a:solidFill>
              <a:srgbClr val="2EA0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School Software is a C++ console application that acts as a complete Electronic School focused on Web Technologies — HTML, CSS and JavaScript.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 study lesson content, take a dynamically generated 20-question test drawn from a 30-question bank, and review their performance through a full statistics dashboard.</a:t>
            </a:r>
            <a:endParaRPr lang="en-US" sz="1350" dirty="0"/>
          </a:p>
          <a:p>
            <a:pPr marL="0" indent="0" algn="l">
              <a:buNone/>
            </a:pP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features account sign-up/login, per-student randomized question order, and real-time colored feedback.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3154680" cy="658368"/>
          </a:xfrm>
          <a:prstGeom prst="rect">
            <a:avLst/>
          </a:prstGeom>
          <a:solidFill>
            <a:srgbClr val="1C2526"/>
          </a:solidFill>
          <a:ln w="6350">
            <a:solidFill>
              <a:srgbClr val="2EA0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051560"/>
            <a:ext cx="109728" cy="6583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972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A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49440" y="10972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in bank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801368"/>
            <a:ext cx="3154680" cy="658368"/>
          </a:xfrm>
          <a:prstGeom prst="rect">
            <a:avLst/>
          </a:prstGeom>
          <a:solidFill>
            <a:srgbClr val="1C2526"/>
          </a:solidFill>
          <a:ln w="6350">
            <a:solidFill>
              <a:srgbClr val="E53E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801368"/>
            <a:ext cx="109728" cy="658368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3E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949440" y="184708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2551176"/>
            <a:ext cx="3154680" cy="658368"/>
          </a:xfrm>
          <a:prstGeom prst="rect">
            <a:avLst/>
          </a:prstGeom>
          <a:solidFill>
            <a:srgbClr val="1C252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2551176"/>
            <a:ext cx="10972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59689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3M+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49440" y="259689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variants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3300984"/>
            <a:ext cx="3154680" cy="658368"/>
          </a:xfrm>
          <a:prstGeom prst="rect">
            <a:avLst/>
          </a:prstGeom>
          <a:solidFill>
            <a:srgbClr val="1C252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3300984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34670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49440" y="334670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4480560"/>
            <a:ext cx="86868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i="1" dirty="0">
                <a:solidFill>
                  <a:srgbClr val="8B949E"/>
                </a:solidFill>
                <a:latin typeface="Arial"/>
                <a:ea typeface="Arial" pitchFamily="34" charset="-122"/>
                <a:cs typeface="Arial"/>
              </a:rPr>
              <a:t>Topic: HTML · CSS · JavaScript  |  Language: C++  |  Genre: Educational</a:t>
            </a:r>
            <a:endParaRPr lang="en-US" sz="1100">
              <a:latin typeface="Arial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667512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Stages of Development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188720"/>
            <a:ext cx="1417320" cy="6583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887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691640" y="1463040"/>
            <a:ext cx="274320" cy="10972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65960" y="118872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2EA04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65960" y="1188720"/>
            <a:ext cx="91440" cy="65836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48840" y="12252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Setup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148840" y="148132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formation, topic selection (Web Technologies), GitHub setup, logo design and initial project planning.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74320" y="2103120"/>
            <a:ext cx="1417320" cy="658368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1031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691640" y="2377440"/>
            <a:ext cx="274320" cy="109728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65960" y="210312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3E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65960" y="2103120"/>
            <a:ext cx="91440" cy="658368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48840" y="21396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Questions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148840" y="239572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module structure, created 30-question bank across 3 categories (HTML, CSS, JS), auth and randomizer.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74320" y="3017520"/>
            <a:ext cx="141732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0175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691640" y="3291840"/>
            <a:ext cx="27432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965960" y="301752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65960" y="3017520"/>
            <a:ext cx="9144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48840" y="30540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Implementation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148840" y="331012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test engine, grading logic, statistics module, lesson content, colors/UI utilities and homework module.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274320" y="3931920"/>
            <a:ext cx="141732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39319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691640" y="4206240"/>
            <a:ext cx="27432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65960" y="3931920"/>
            <a:ext cx="6858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965960" y="3931920"/>
            <a:ext cx="9144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48840" y="39684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&amp; Delivery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2148840" y="422452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Integration, bug fixing, documentation (10 pages), presentation, GitHub commits cleanup and final demo.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Used Technologies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686800" cy="4572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2EA0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91440" cy="10058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(C++11/14)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 – only language used, as required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56D3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91440" cy="100584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/>
                <a:cs typeface="Arial"/>
              </a:rPr>
              <a:t>RayLib</a:t>
            </a:r>
            <a:endParaRPr lang="en-US" sz="1500" dirty="0" err="1"/>
          </a:p>
        </p:txBody>
      </p:sp>
      <p:sp>
        <p:nvSpPr>
          <p:cNvPr id="12" name="Text 10"/>
          <p:cNvSpPr/>
          <p:nvPr/>
        </p:nvSpPr>
        <p:spPr>
          <a:xfrm>
            <a:off x="5001768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B949E"/>
                </a:solidFill>
                <a:ea typeface="+mn-lt"/>
                <a:cs typeface="+mn-lt"/>
              </a:rPr>
              <a:t>Hardware-accelerated library used for rendering the interactive GUI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E53E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12848"/>
            <a:ext cx="91440" cy="1005840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 Escape Codes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" y="26700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Colored console output, cursor control (no lib needed)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212848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212848"/>
            <a:ext cx="9144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LCG RNG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01768" y="26700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randomizer in randomizer.cpp – no std::rand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419856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19856"/>
            <a:ext cx="91440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493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&amp; Git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" y="3877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control, commits, issues, project planning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419856"/>
            <a:ext cx="4297680" cy="1005840"/>
          </a:xfrm>
          <a:prstGeom prst="rect">
            <a:avLst/>
          </a:prstGeom>
          <a:solidFill>
            <a:srgbClr val="1C2526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419856"/>
            <a:ext cx="914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3493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2022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01768" y="38770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and compiler used during development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709160"/>
            <a:ext cx="8686800" cy="45720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773168"/>
            <a:ext cx="8686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000" i="1" dirty="0">
              <a:solidFill>
                <a:srgbClr val="8B949E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667512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170432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70432"/>
            <a:ext cx="109728" cy="107899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289304"/>
            <a:ext cx="201168" cy="201168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System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2920" y="1627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&amp; login with up to 10 accounts. Passwords stored per-user, extensible to hashing.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170432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70432"/>
            <a:ext cx="109728" cy="1078992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289304"/>
            <a:ext cx="201168" cy="201168"/>
          </a:xfrm>
          <a:prstGeom prst="ellipse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5780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Modules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83480" y="1627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interactive lessons: HTML Basics, CSS Basics, JavaScript Basics.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74320" y="2414016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414016"/>
            <a:ext cx="109728" cy="10789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253288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24780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Test Engine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28712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HTML + 7 CSS + 6 JS questions drawn randomly, shuffled, with real-time colored feedback.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754880" y="2414016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2414016"/>
            <a:ext cx="109728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83480" y="2532888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57800" y="24780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Scale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983480" y="28712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Bulgarian 6-point scale: 2 (&lt;45%) · 3 (45%) · 4 (60%) · 5 (75%) · 6 (90%+).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74320" y="3657600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3657600"/>
            <a:ext cx="10972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2920" y="37764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3721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Dashboard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02920" y="4114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highest/lowest/average grade and per-category success rates (HTML, CSS, JS).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754880" y="3657600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3657600"/>
            <a:ext cx="109728" cy="107899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983480" y="3776472"/>
            <a:ext cx="201168" cy="201168"/>
          </a:xfrm>
          <a:prstGeom prst="ellipse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57800" y="3721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3M+ Test Variants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4983480" y="4114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C(10,7)×C(10,7)×C(10,6) = 3,024,000 unique test compositions.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53E6D"/>
          </a:solidFill>
          <a:ln w="12700">
            <a:solidFill>
              <a:srgbClr val="E53E6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57200"/>
            <a:ext cx="1828800" cy="1499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move to the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2EA043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APPLICATION!</a:t>
            </a:r>
            <a:endParaRPr lang="en-US" sz="5200">
              <a:latin typeface="Arial Black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ea typeface="+mn-lt"/>
                <a:cs typeface="+mn-lt"/>
              </a:rPr>
              <a:t>https://github.com/MGIliev24/NSS</a:t>
            </a:r>
            <a:endParaRPr lang="bg-BG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School Software – Presentation</dc:title>
  <dc:subject>PptxGenJS Presentation</dc:subject>
  <dc:creator>Nexus School Software</dc:creator>
  <cp:lastModifiedBy>Nexus School Software</cp:lastModifiedBy>
  <cp:revision>36</cp:revision>
  <dcterms:created xsi:type="dcterms:W3CDTF">2026-03-24T19:29:28Z</dcterms:created>
  <dcterms:modified xsi:type="dcterms:W3CDTF">2026-03-24T23:59:24Z</dcterms:modified>
</cp:coreProperties>
</file>